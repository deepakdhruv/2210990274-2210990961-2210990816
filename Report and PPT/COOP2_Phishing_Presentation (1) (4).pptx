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 type="screen4x3"/>
  <p:notesSz cx="7559675" cy="106914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18" d="100"/>
          <a:sy n="118" d="100"/>
        </p:scale>
        <p:origin x="-1482" y="-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customXml" Target="../customXml/item3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 panose="02020603050405020304"/>
              </a:rPr>
              <a:t>Name</a:t>
            </a:r>
            <a:endParaRPr lang="en-GB" sz="2400" b="0" strike="noStrike" spc="-1">
              <a:latin typeface="Times New Roman" panose="02020603050405020304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Industry (Module-2) </a:t>
            </a:r>
            <a:r>
              <a:rPr lang="en-IN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Study of Machine Learning and Rule-Based Phishing Detection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Vinayak Sharma (Roll No. 2110992961)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Dhruv Grover &amp; Shaurya Gupta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Supervised By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Dr. Gurpreet Singh, Associate Professor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Computer Science and Engineering, </a:t>
            </a:r>
            <a:endParaRPr lang="en-US" sz="24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Chitkara University, Punjab</a:t>
            </a:r>
            <a:endParaRPr lang="en-US" sz="24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  <a:endParaRPr lang="en-GB" sz="3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2-AAAA-BBBB-CCCC-000000000002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</a:rPr>
            </a:fld>
            <a:endParaRPr lang="en-US" sz="1200" b="1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BodyShape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Phishing attacks trick users into revealing passwords, banking details and personal information.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APWG recorded over 1.3 million unique phishing sites in a single quarter of 2023 alone.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Traditional blacklist-based systems are reactive and miss novel attacks completely.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 (ML) offers data-driven detection that generalizes to new phishing patterns.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900" b="0" dirty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Objectives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Compare rule-based vs. ML-based phishing detection systematically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Evaluate accuracy, scalability, adaptability and interpretability of each approach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Propose an optimal hybrid detection framework for real-world deployment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Methodology</a:t>
            </a:r>
            <a:endParaRPr lang="en-GB" sz="3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-AAAA-BBBB-CCCC-000000000004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</a:rPr>
            </a:fld>
            <a:endParaRPr lang="en-US" sz="1200" b="1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BodyShape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Structured literature review of peer-reviewed papers (2015-2024)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Databases: IEEE Xplore, ACM Digital Library, ScienceDirect, Google Scholar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900" b="0" dirty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Inclusion Criteria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Must report quantitative detection metrics (F1-score / AUC-ROC)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Must evaluate on benchmark dataset: UCI Phishing, PhishTank, or OpenPhish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Must explicitly describe feature engineering or rule construction process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900" b="0" dirty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Evaluation Dimensions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Detection Accuracy — F1 Score and AUC-ROC values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Computational Overhead — inference latency, hardware requirements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Adaptability — response time to new phishing campaigns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Interpretability — explainability for security analysts and compliance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Comparative Analysis</a:t>
            </a:r>
            <a:endParaRPr lang="en-GB" sz="3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-AAAA-BBBB-CCCC-000000000005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</a:rPr>
            </a:fld>
            <a:endParaRPr lang="en-US" sz="1200" b="1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BodyShape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A. Detection Accuracy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Random Forest: F1-score 96-99% vs. Rule-based: 85-92% on same datasets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LSTM (character-level URL): AUC-ROC &gt; 0.99 in controlled experiments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900" b="0" dirty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B. Computational Overhead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Rule-based: microsecond evaluation, deployable at network gateways with no special hardware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Deep learning: 50-200ms per query, needs hardware acceleration for high-throughput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900" b="0" dirty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C. Flexibility / Adaptability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Rule-based: requires manual analyst updates - lags threat landscape by days/weeks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ML: can retrain automatically on new phishing samples, reducing lag significantly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ML vulnerability: adversarial perturbations can bypass decision boundaries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900" b="0" dirty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D. Clarity / Interpretability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Rule-based: fully transparent - every decision maps to a specific matched rule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ML (deep learning): black-box; LIME and SHAP help but lack operational clarity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Proposed Hybrid Detection Framework</a:t>
            </a:r>
            <a:endParaRPr lang="en-GB" sz="3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6-AAAA-BBBB-CCCC-000000000006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</a:rPr>
            </a:fld>
            <a:endParaRPr lang="en-US" sz="1200" b="1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BodyShape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Three-Stage Architecture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900" b="0" dirty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Stage 1 - Rule-Based Pre-Filter:</a:t>
            </a:r>
            <a:endParaRPr lang="en-US" sz="19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Evaluates URLs against dynamic blacklists and structural heuristics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Known-malicious blocked instantly (no ML). Known-safe passed through.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900" b="0" dirty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Stage 2 - ML Classifier (Random Forest):</a:t>
            </a:r>
            <a:endParaRPr lang="en-US" sz="19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Ambiguous URLs classified using 48-feature vector (URL + content + behaviour)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Score &gt; 0.80 = phishing flag  |  Score &lt; 0.30 = safe  |  Middle = escalate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900" b="0" dirty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Stage 3 - Threat Intelligence Feedback Loop:</a:t>
            </a:r>
            <a:endParaRPr lang="en-US" sz="19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Confirmed phishing feeds back to update blacklists and retrain ML model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Continuous learning: new campaigns detected in hours not days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900" b="0" dirty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Benefits: 60-70% traffic handled by rules | Zero-day via ML | Full explainability</a:t>
            </a:r>
            <a:endParaRPr lang="en-US" sz="19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Results and Discussion</a:t>
            </a:r>
            <a:endParaRPr lang="en-GB" sz="3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7-AAAA-BBBB-CCCC-000000000007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</a:rPr>
            </a:fld>
            <a:endParaRPr lang="en-US" sz="1200" b="1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BodyShape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Comparative Summary (Table I)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900" b="0" dirty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Detection Accuracy:   Rule-Based 85-92%  |  ML-Based 96-99%  |  Hybrid 97-99.5%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Zero-Day Coverage:    Rule-Based LOW       |  ML-Based HIGH    |  Hybrid HIGH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Computational Cost:   Rule-Based VERY LOW |  ML-Based MOD-HIGH|  Hybrid LOW-MOD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Interpretability:      Rule-Based HIGH     |  ML-Based LOW     |  Hybrid HIGH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Adaptability:          Rule-Based MANUAL   |  ML-Based AUTO    |  Hybrid AUTO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Training Data:         Rule-Based NONE     |  ML-Based LARGE   |  Hybrid MODERATE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900" b="0" dirty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Findings from Literature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Hybrid reduces false positives by 34% compared to ML-only deployment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Hybrid improves zero-day detection by 18% compared to rule-only baseline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Bi-weekly ML retraining recommended with automated SLA-based emergency retraining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 and Future Work</a:t>
            </a:r>
            <a:endParaRPr lang="en-GB" sz="3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8-AAAA-BBBB-CCCC-00000000000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</a:rPr>
            </a:fld>
            <a:endParaRPr lang="en-US" sz="1200" b="1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BodyShape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Conclusions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Rule-based systems: fast and transparent but fail on novel/zero-day phishing attacks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ML classifiers: high accuracy and adaptive but computationally expensive and opaque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Neither approach alone is sufficient for comprehensive real-world phishing defense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HYBRID FRAMEWORK is the optimal solution - best accuracy, speed and explainability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900" b="0" dirty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Gaps Identified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Outdated benchmark datasets not reflecting modern phishing techniques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Adversarial robustness of ML models largely untested in existing literature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 federated learning approach for cross-organizational model sharing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Lack of multilingual/mobile phishing detection research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900" b="0" dirty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Future Work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Adversarially robust ML training and federated learning architectures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LLM-based semantic phishing detection in email and messaging platforms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Background and Related Work</a:t>
            </a:r>
            <a:endParaRPr lang="en-GB" sz="3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3-AAAA-BBBB-CCCC-000000000003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</a:rPr>
            </a:fld>
            <a:endParaRPr lang="en-US" sz="1200" b="1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BodyShape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A. Rule-Based Detection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PhishTank and Google Safe Browsing: community-sourced URL blacklists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Heuristic rules: IP-based hostnames, subdomain depth, URL shorteners, TLD patterns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Strengths: fast, transparent, no training data needed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Weakness: fails completely on zero-day phishing domains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900" b="0" dirty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B. Machine Learning-Based Detection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Feature vectors: URL features, content features, behavioural features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Random Forest: 96-99% F1-score, built-in feature importance ranking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XGBoost: handles class imbalance effectively, 95-98% accuracy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LSTM/CNN: character-level URL encoding, AUC-ROC &gt; 0.99 in controlled tests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900" b="0" dirty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C. Hybrid Approaches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Two-stage systems: rule pre-filter + ML classifier (Mohammad et al., 2019)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Addresses cold-start problem and improves overall throughput</a:t>
            </a:r>
            <a:endParaRPr lang="en-US" sz="19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/>
</ds:datastoreItem>
</file>

<file path=customXml/itemProps2.xml><?xml version="1.0" encoding="utf-8"?>
<ds:datastoreItem xmlns:ds="http://schemas.openxmlformats.org/officeDocument/2006/customXml" ds:itemID="{737ED6F0-5E4C-4CD0-9B68-9C53F925A6F7}">
  <ds:schemaRefs/>
</ds:datastoreItem>
</file>

<file path=customXml/itemProps3.xml><?xml version="1.0" encoding="utf-8"?>
<ds:datastoreItem xmlns:ds="http://schemas.openxmlformats.org/officeDocument/2006/customXml" ds:itemID="{491DF113-39A2-46D5-BFDA-E63300A9ECA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5430</Words>
  <Application>WPS Presentation</Application>
  <PresentationFormat>On-screen Show (4:3)</PresentationFormat>
  <Paragraphs>146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MS PGothic</vt:lpstr>
      <vt:lpstr>Arial</vt:lpstr>
      <vt:lpstr>Times New Roman</vt:lpstr>
      <vt:lpstr>Times New Roman</vt:lpstr>
      <vt:lpstr>Calibri</vt:lpstr>
      <vt:lpstr>Microsoft YaHei</vt:lpstr>
      <vt:lpstr>Arial Unicode MS</vt:lpstr>
      <vt:lpstr>DejaVu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vinay</cp:lastModifiedBy>
  <cp:revision>2300</cp:revision>
  <dcterms:created xsi:type="dcterms:W3CDTF">2010-04-09T07:36:00Z</dcterms:created>
  <dcterms:modified xsi:type="dcterms:W3CDTF">2026-05-18T04:59:49Z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ICV">
    <vt:lpwstr>116D9FB897034099B7DB437A55259578_12</vt:lpwstr>
  </property>
  <property fmtid="{D5CDD505-2E9C-101B-9397-08002B2CF9AE}" pid="15" name="KSOProductBuildVer">
    <vt:lpwstr>1033-12.1.0.26372</vt:lpwstr>
  </property>
</Properties>
</file>